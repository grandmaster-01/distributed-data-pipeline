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Berthold Block" charset="1" panose="02000506040000020004"/>
      <p:regular r:id="rId16"/>
    </p:embeddedFont>
    <p:embeddedFont>
      <p:font typeface="Glacial Indifference" charset="1" panose="000000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11" Target="../media/image18.svg" Type="http://schemas.openxmlformats.org/officeDocument/2006/relationships/image"/><Relationship Id="rId12" Target="../media/image19.png" Type="http://schemas.openxmlformats.org/officeDocument/2006/relationships/image"/><Relationship Id="rId13" Target="../media/image20.svg" Type="http://schemas.openxmlformats.org/officeDocument/2006/relationships/image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23.png" Type="http://schemas.openxmlformats.org/officeDocument/2006/relationships/image"/><Relationship Id="rId7" Target="../media/image24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25.png" Type="http://schemas.openxmlformats.org/officeDocument/2006/relationships/image"/><Relationship Id="rId7" Target="../media/image26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27.png" Type="http://schemas.openxmlformats.org/officeDocument/2006/relationships/image"/><Relationship Id="rId9" Target="../media/image2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9.png" Type="http://schemas.openxmlformats.org/officeDocument/2006/relationships/image"/><Relationship Id="rId11" Target="../media/image30.svg" Type="http://schemas.openxmlformats.org/officeDocument/2006/relationships/image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1.png" Type="http://schemas.openxmlformats.org/officeDocument/2006/relationships/image"/><Relationship Id="rId11" Target="../media/image32.svg" Type="http://schemas.openxmlformats.org/officeDocument/2006/relationships/image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33.png" Type="http://schemas.openxmlformats.org/officeDocument/2006/relationships/image"/><Relationship Id="rId9" Target="../media/image34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5.png" Type="http://schemas.openxmlformats.org/officeDocument/2006/relationships/image"/><Relationship Id="rId11" Target="../media/image36.svg" Type="http://schemas.openxmlformats.org/officeDocument/2006/relationships/image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061868" y="8248947"/>
            <a:ext cx="1876281" cy="1893495"/>
          </a:xfrm>
          <a:custGeom>
            <a:avLst/>
            <a:gdLst/>
            <a:ahLst/>
            <a:cxnLst/>
            <a:rect r="r" b="b" t="t" l="l"/>
            <a:pathLst>
              <a:path h="1893495" w="1876281">
                <a:moveTo>
                  <a:pt x="0" y="0"/>
                </a:moveTo>
                <a:lnTo>
                  <a:pt x="1876281" y="0"/>
                </a:lnTo>
                <a:lnTo>
                  <a:pt x="1876281" y="1893495"/>
                </a:lnTo>
                <a:lnTo>
                  <a:pt x="0" y="18934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135339" y="1285875"/>
            <a:ext cx="9853058" cy="578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06"/>
              </a:lnSpc>
            </a:pPr>
            <a:r>
              <a:rPr lang="en-US" sz="11777">
                <a:solidFill>
                  <a:srgbClr val="000000"/>
                </a:solidFill>
                <a:latin typeface="Berthold Block"/>
                <a:ea typeface="Berthold Block"/>
                <a:cs typeface="Berthold Block"/>
                <a:sym typeface="Berthold Block"/>
              </a:rPr>
              <a:t>DISTRIB</a:t>
            </a:r>
            <a:r>
              <a:rPr lang="en-US" sz="11777">
                <a:solidFill>
                  <a:srgbClr val="000000"/>
                </a:solidFill>
                <a:latin typeface="Berthold Block"/>
                <a:ea typeface="Berthold Block"/>
                <a:cs typeface="Berthold Block"/>
                <a:sym typeface="Berthold Block"/>
              </a:rPr>
              <a:t>UTED DATA PROCESSING PIPELINE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028700" y="1831125"/>
            <a:ext cx="3357327" cy="3898202"/>
          </a:xfrm>
          <a:custGeom>
            <a:avLst/>
            <a:gdLst/>
            <a:ahLst/>
            <a:cxnLst/>
            <a:rect r="r" b="b" t="t" l="l"/>
            <a:pathLst>
              <a:path h="3898202" w="3357327">
                <a:moveTo>
                  <a:pt x="0" y="0"/>
                </a:moveTo>
                <a:lnTo>
                  <a:pt x="3357327" y="0"/>
                </a:lnTo>
                <a:lnTo>
                  <a:pt x="3357327" y="3898203"/>
                </a:lnTo>
                <a:lnTo>
                  <a:pt x="0" y="38982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87638">
            <a:off x="11109001" y="6462447"/>
            <a:ext cx="3375115" cy="3417838"/>
          </a:xfrm>
          <a:custGeom>
            <a:avLst/>
            <a:gdLst/>
            <a:ahLst/>
            <a:cxnLst/>
            <a:rect r="r" b="b" t="t" l="l"/>
            <a:pathLst>
              <a:path h="3417838" w="3375115">
                <a:moveTo>
                  <a:pt x="0" y="0"/>
                </a:moveTo>
                <a:lnTo>
                  <a:pt x="3375115" y="0"/>
                </a:lnTo>
                <a:lnTo>
                  <a:pt x="3375115" y="3417838"/>
                </a:lnTo>
                <a:lnTo>
                  <a:pt x="0" y="341783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165298">
            <a:off x="3467591" y="6981765"/>
            <a:ext cx="3686898" cy="2622306"/>
          </a:xfrm>
          <a:custGeom>
            <a:avLst/>
            <a:gdLst/>
            <a:ahLst/>
            <a:cxnLst/>
            <a:rect r="r" b="b" t="t" l="l"/>
            <a:pathLst>
              <a:path h="2622306" w="3686898">
                <a:moveTo>
                  <a:pt x="0" y="0"/>
                </a:moveTo>
                <a:lnTo>
                  <a:pt x="3686897" y="0"/>
                </a:lnTo>
                <a:lnTo>
                  <a:pt x="3686897" y="2622306"/>
                </a:lnTo>
                <a:lnTo>
                  <a:pt x="0" y="26223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979317" y="195964"/>
            <a:ext cx="2165101" cy="990534"/>
          </a:xfrm>
          <a:custGeom>
            <a:avLst/>
            <a:gdLst/>
            <a:ahLst/>
            <a:cxnLst/>
            <a:rect r="r" b="b" t="t" l="l"/>
            <a:pathLst>
              <a:path h="990534" w="2165101">
                <a:moveTo>
                  <a:pt x="0" y="0"/>
                </a:moveTo>
                <a:lnTo>
                  <a:pt x="2165102" y="0"/>
                </a:lnTo>
                <a:lnTo>
                  <a:pt x="2165102" y="990534"/>
                </a:lnTo>
                <a:lnTo>
                  <a:pt x="0" y="99053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070529" y="6528353"/>
            <a:ext cx="4472609" cy="4114800"/>
          </a:xfrm>
          <a:custGeom>
            <a:avLst/>
            <a:gdLst/>
            <a:ahLst/>
            <a:cxnLst/>
            <a:rect r="r" b="b" t="t" l="l"/>
            <a:pathLst>
              <a:path h="4114800" w="4472609">
                <a:moveTo>
                  <a:pt x="0" y="0"/>
                </a:moveTo>
                <a:lnTo>
                  <a:pt x="4472609" y="0"/>
                </a:lnTo>
                <a:lnTo>
                  <a:pt x="447260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4372235">
            <a:off x="-1258871" y="6869181"/>
            <a:ext cx="5423130" cy="4114800"/>
          </a:xfrm>
          <a:custGeom>
            <a:avLst/>
            <a:gdLst/>
            <a:ahLst/>
            <a:cxnLst/>
            <a:rect r="r" b="b" t="t" l="l"/>
            <a:pathLst>
              <a:path h="4114800" w="5423130">
                <a:moveTo>
                  <a:pt x="0" y="4114800"/>
                </a:moveTo>
                <a:lnTo>
                  <a:pt x="5423130" y="4114800"/>
                </a:lnTo>
                <a:lnTo>
                  <a:pt x="542313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139619" y="2941893"/>
            <a:ext cx="8008762" cy="1952136"/>
          </a:xfrm>
          <a:custGeom>
            <a:avLst/>
            <a:gdLst/>
            <a:ahLst/>
            <a:cxnLst/>
            <a:rect r="r" b="b" t="t" l="l"/>
            <a:pathLst>
              <a:path h="1952136" w="8008762">
                <a:moveTo>
                  <a:pt x="0" y="0"/>
                </a:moveTo>
                <a:lnTo>
                  <a:pt x="8008762" y="0"/>
                </a:lnTo>
                <a:lnTo>
                  <a:pt x="8008762" y="1952136"/>
                </a:lnTo>
                <a:lnTo>
                  <a:pt x="0" y="19521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86336" y="412279"/>
            <a:ext cx="12354052" cy="1715841"/>
            <a:chOff x="0" y="0"/>
            <a:chExt cx="16472069" cy="228778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6472069" cy="2287787"/>
            </a:xfrm>
            <a:custGeom>
              <a:avLst/>
              <a:gdLst/>
              <a:ahLst/>
              <a:cxnLst/>
              <a:rect r="r" b="b" t="t" l="l"/>
              <a:pathLst>
                <a:path h="2287787" w="16472069">
                  <a:moveTo>
                    <a:pt x="0" y="0"/>
                  </a:moveTo>
                  <a:lnTo>
                    <a:pt x="16472069" y="0"/>
                  </a:lnTo>
                  <a:lnTo>
                    <a:pt x="16472069" y="2287787"/>
                  </a:lnTo>
                  <a:lnTo>
                    <a:pt x="0" y="228778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23825"/>
              <a:ext cx="16472069" cy="24116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5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8061449" y="279665"/>
            <a:ext cx="2165101" cy="990534"/>
          </a:xfrm>
          <a:custGeom>
            <a:avLst/>
            <a:gdLst/>
            <a:ahLst/>
            <a:cxnLst/>
            <a:rect r="r" b="b" t="t" l="l"/>
            <a:pathLst>
              <a:path h="990534" w="2165101">
                <a:moveTo>
                  <a:pt x="0" y="0"/>
                </a:moveTo>
                <a:lnTo>
                  <a:pt x="2165102" y="0"/>
                </a:lnTo>
                <a:lnTo>
                  <a:pt x="2165102" y="990534"/>
                </a:lnTo>
                <a:lnTo>
                  <a:pt x="0" y="9905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764739">
            <a:off x="5856234" y="6404702"/>
            <a:ext cx="917246" cy="917246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901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5612986" y="6277538"/>
            <a:ext cx="7062029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88"/>
              </a:lnSpc>
            </a:pPr>
            <a:r>
              <a:rPr lang="en-US" sz="2823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</a:t>
            </a:r>
            <a:r>
              <a:rPr lang="en-US" sz="2823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resented By Umesh Naik</a:t>
            </a:r>
          </a:p>
          <a:p>
            <a:pPr algn="ctr">
              <a:lnSpc>
                <a:spcPts val="3388"/>
              </a:lnSpc>
            </a:pPr>
            <a:r>
              <a:rPr lang="en-US" sz="2823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24PG00021</a:t>
            </a:r>
          </a:p>
          <a:p>
            <a:pPr algn="ctr">
              <a:lnSpc>
                <a:spcPts val="3388"/>
              </a:lnSpc>
            </a:pPr>
            <a:r>
              <a:rPr lang="en-US" sz="2823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M.Sc. Data Science</a:t>
            </a:r>
          </a:p>
        </p:txBody>
      </p:sp>
      <p:sp>
        <p:nvSpPr>
          <p:cNvPr name="Freeform 11" id="11"/>
          <p:cNvSpPr/>
          <p:nvPr/>
        </p:nvSpPr>
        <p:spPr>
          <a:xfrm flipH="false" flipV="true" rot="-6202347">
            <a:off x="-1906485" y="-310499"/>
            <a:ext cx="5423130" cy="4114800"/>
          </a:xfrm>
          <a:custGeom>
            <a:avLst/>
            <a:gdLst/>
            <a:ahLst/>
            <a:cxnLst/>
            <a:rect r="r" b="b" t="t" l="l"/>
            <a:pathLst>
              <a:path h="4114800" w="5423130">
                <a:moveTo>
                  <a:pt x="0" y="4114800"/>
                </a:moveTo>
                <a:lnTo>
                  <a:pt x="5423130" y="4114800"/>
                </a:lnTo>
                <a:lnTo>
                  <a:pt x="542313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823342" y="7286736"/>
            <a:ext cx="4472609" cy="4114800"/>
          </a:xfrm>
          <a:custGeom>
            <a:avLst/>
            <a:gdLst/>
            <a:ahLst/>
            <a:cxnLst/>
            <a:rect r="r" b="b" t="t" l="l"/>
            <a:pathLst>
              <a:path h="4114800" w="4472609">
                <a:moveTo>
                  <a:pt x="0" y="0"/>
                </a:moveTo>
                <a:lnTo>
                  <a:pt x="4472608" y="0"/>
                </a:lnTo>
                <a:lnTo>
                  <a:pt x="44726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764739">
            <a:off x="13228709" y="4562446"/>
            <a:ext cx="4944408" cy="3430183"/>
          </a:xfrm>
          <a:custGeom>
            <a:avLst/>
            <a:gdLst/>
            <a:ahLst/>
            <a:cxnLst/>
            <a:rect r="r" b="b" t="t" l="l"/>
            <a:pathLst>
              <a:path h="3430183" w="4944408">
                <a:moveTo>
                  <a:pt x="0" y="0"/>
                </a:moveTo>
                <a:lnTo>
                  <a:pt x="4944408" y="0"/>
                </a:lnTo>
                <a:lnTo>
                  <a:pt x="4944408" y="3430183"/>
                </a:lnTo>
                <a:lnTo>
                  <a:pt x="0" y="343018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871662">
            <a:off x="870533" y="6104068"/>
            <a:ext cx="3910788" cy="3241065"/>
          </a:xfrm>
          <a:custGeom>
            <a:avLst/>
            <a:gdLst/>
            <a:ahLst/>
            <a:cxnLst/>
            <a:rect r="r" b="b" t="t" l="l"/>
            <a:pathLst>
              <a:path h="3241065" w="3910788">
                <a:moveTo>
                  <a:pt x="0" y="0"/>
                </a:moveTo>
                <a:lnTo>
                  <a:pt x="3910788" y="0"/>
                </a:lnTo>
                <a:lnTo>
                  <a:pt x="3910788" y="3241065"/>
                </a:lnTo>
                <a:lnTo>
                  <a:pt x="0" y="324106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3738629" y="1460699"/>
            <a:ext cx="10810741" cy="3152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03"/>
              </a:lnSpc>
            </a:pPr>
            <a:r>
              <a:rPr lang="en-US" sz="8441">
                <a:solidFill>
                  <a:srgbClr val="000000"/>
                </a:solidFill>
                <a:latin typeface="Berthold Block"/>
                <a:ea typeface="Berthold Block"/>
                <a:cs typeface="Berthold Block"/>
                <a:sym typeface="Berthold Block"/>
              </a:rPr>
              <a:t>UNDE</a:t>
            </a:r>
            <a:r>
              <a:rPr lang="en-US" sz="8441">
                <a:solidFill>
                  <a:srgbClr val="000000"/>
                </a:solidFill>
                <a:latin typeface="Berthold Block"/>
                <a:ea typeface="Berthold Block"/>
                <a:cs typeface="Berthold Block"/>
                <a:sym typeface="Berthold Block"/>
              </a:rPr>
              <a:t>R GUIDANCE OF </a:t>
            </a:r>
          </a:p>
          <a:p>
            <a:pPr algn="ctr">
              <a:lnSpc>
                <a:spcPts val="8103"/>
              </a:lnSpc>
            </a:pPr>
            <a:r>
              <a:rPr lang="en-US" sz="8441">
                <a:solidFill>
                  <a:srgbClr val="000000"/>
                </a:solidFill>
                <a:latin typeface="Berthold Block"/>
                <a:ea typeface="Berthold Block"/>
                <a:cs typeface="Berthold Block"/>
                <a:sym typeface="Berthold Block"/>
              </a:rPr>
              <a:t>PROFESSOR </a:t>
            </a:r>
          </a:p>
          <a:p>
            <a:pPr algn="ctr">
              <a:lnSpc>
                <a:spcPts val="8103"/>
              </a:lnSpc>
            </a:pPr>
            <a:r>
              <a:rPr lang="en-US" sz="8441">
                <a:solidFill>
                  <a:srgbClr val="0097B2"/>
                </a:solidFill>
                <a:latin typeface="Berthold Block"/>
                <a:ea typeface="Berthold Block"/>
                <a:cs typeface="Berthold Block"/>
                <a:sym typeface="Berthold Block"/>
              </a:rPr>
              <a:t>DR. BHANU K.N.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698761" y="2701429"/>
            <a:ext cx="7300331" cy="1779456"/>
          </a:xfrm>
          <a:custGeom>
            <a:avLst/>
            <a:gdLst/>
            <a:ahLst/>
            <a:cxnLst/>
            <a:rect r="r" b="b" t="t" l="l"/>
            <a:pathLst>
              <a:path h="1779456" w="7300331">
                <a:moveTo>
                  <a:pt x="0" y="0"/>
                </a:moveTo>
                <a:lnTo>
                  <a:pt x="7300331" y="0"/>
                </a:lnTo>
                <a:lnTo>
                  <a:pt x="7300331" y="1779456"/>
                </a:lnTo>
                <a:lnTo>
                  <a:pt x="0" y="17794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388384" y="3144200"/>
            <a:ext cx="5921085" cy="1084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03"/>
              </a:lnSpc>
            </a:pPr>
            <a:r>
              <a:rPr lang="en-US" sz="8441">
                <a:solidFill>
                  <a:srgbClr val="000000"/>
                </a:solidFill>
                <a:latin typeface="Berthold Block"/>
                <a:ea typeface="Berthold Block"/>
                <a:cs typeface="Berthold Block"/>
                <a:sym typeface="Berthold Block"/>
              </a:rPr>
              <a:t>INTRODUCT</a:t>
            </a:r>
            <a:r>
              <a:rPr lang="en-US" sz="8441">
                <a:solidFill>
                  <a:srgbClr val="000000"/>
                </a:solidFill>
                <a:latin typeface="Berthold Block"/>
                <a:ea typeface="Berthold Block"/>
                <a:cs typeface="Berthold Block"/>
                <a:sym typeface="Berthold Block"/>
              </a:rPr>
              <a:t>ION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1121566" y="1403445"/>
            <a:ext cx="2165101" cy="990534"/>
          </a:xfrm>
          <a:custGeom>
            <a:avLst/>
            <a:gdLst/>
            <a:ahLst/>
            <a:cxnLst/>
            <a:rect r="r" b="b" t="t" l="l"/>
            <a:pathLst>
              <a:path h="990534" w="2165101">
                <a:moveTo>
                  <a:pt x="0" y="0"/>
                </a:moveTo>
                <a:lnTo>
                  <a:pt x="2165102" y="0"/>
                </a:lnTo>
                <a:lnTo>
                  <a:pt x="2165102" y="990534"/>
                </a:lnTo>
                <a:lnTo>
                  <a:pt x="0" y="9905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2423716" y="4838700"/>
            <a:ext cx="3390900" cy="339090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901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608065" y="2057400"/>
            <a:ext cx="6984102" cy="6172200"/>
          </a:xfrm>
          <a:custGeom>
            <a:avLst/>
            <a:gdLst/>
            <a:ahLst/>
            <a:cxnLst/>
            <a:rect r="r" b="b" t="t" l="l"/>
            <a:pathLst>
              <a:path h="6172200" w="6984102">
                <a:moveTo>
                  <a:pt x="0" y="0"/>
                </a:moveTo>
                <a:lnTo>
                  <a:pt x="6984101" y="0"/>
                </a:lnTo>
                <a:lnTo>
                  <a:pt x="6984101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8367555" y="5102551"/>
            <a:ext cx="9443271" cy="20983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9"/>
              </a:lnSpc>
            </a:pPr>
            <a:r>
              <a:rPr lang="en-US" sz="3507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•Explosio</a:t>
            </a:r>
            <a:r>
              <a:rPr lang="en-US" sz="3507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 of data in modern systems</a:t>
            </a:r>
          </a:p>
          <a:p>
            <a:pPr algn="l">
              <a:lnSpc>
                <a:spcPts val="4209"/>
              </a:lnSpc>
            </a:pPr>
            <a:r>
              <a:rPr lang="en-US" sz="3507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•Traditional single-machine processing is limited</a:t>
            </a:r>
          </a:p>
          <a:p>
            <a:pPr algn="l">
              <a:lnSpc>
                <a:spcPts val="4209"/>
              </a:lnSpc>
            </a:pPr>
            <a:r>
              <a:rPr lang="en-US" sz="3507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•Distributed pipelines enable scalable data processing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4860938" y="7200900"/>
            <a:ext cx="4472609" cy="4114800"/>
          </a:xfrm>
          <a:custGeom>
            <a:avLst/>
            <a:gdLst/>
            <a:ahLst/>
            <a:cxnLst/>
            <a:rect r="r" b="b" t="t" l="l"/>
            <a:pathLst>
              <a:path h="4114800" w="4472609">
                <a:moveTo>
                  <a:pt x="0" y="0"/>
                </a:moveTo>
                <a:lnTo>
                  <a:pt x="4472608" y="0"/>
                </a:lnTo>
                <a:lnTo>
                  <a:pt x="44726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1207604" y="-158688"/>
            <a:ext cx="4472609" cy="4114800"/>
          </a:xfrm>
          <a:custGeom>
            <a:avLst/>
            <a:gdLst/>
            <a:ahLst/>
            <a:cxnLst/>
            <a:rect r="r" b="b" t="t" l="l"/>
            <a:pathLst>
              <a:path h="4114800" w="4472609">
                <a:moveTo>
                  <a:pt x="0" y="0"/>
                </a:moveTo>
                <a:lnTo>
                  <a:pt x="4472608" y="0"/>
                </a:lnTo>
                <a:lnTo>
                  <a:pt x="44726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19323" y="3907328"/>
            <a:ext cx="7305050" cy="1780606"/>
          </a:xfrm>
          <a:custGeom>
            <a:avLst/>
            <a:gdLst/>
            <a:ahLst/>
            <a:cxnLst/>
            <a:rect r="r" b="b" t="t" l="l"/>
            <a:pathLst>
              <a:path h="1780606" w="7305050">
                <a:moveTo>
                  <a:pt x="0" y="0"/>
                </a:moveTo>
                <a:lnTo>
                  <a:pt x="7305050" y="0"/>
                </a:lnTo>
                <a:lnTo>
                  <a:pt x="7305050" y="1780606"/>
                </a:lnTo>
                <a:lnTo>
                  <a:pt x="0" y="178060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875210" y="1936042"/>
            <a:ext cx="2165101" cy="990534"/>
          </a:xfrm>
          <a:custGeom>
            <a:avLst/>
            <a:gdLst/>
            <a:ahLst/>
            <a:cxnLst/>
            <a:rect r="r" b="b" t="t" l="l"/>
            <a:pathLst>
              <a:path h="990534" w="2165101">
                <a:moveTo>
                  <a:pt x="0" y="0"/>
                </a:moveTo>
                <a:lnTo>
                  <a:pt x="2165101" y="0"/>
                </a:lnTo>
                <a:lnTo>
                  <a:pt x="2165101" y="990534"/>
                </a:lnTo>
                <a:lnTo>
                  <a:pt x="0" y="9905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1458574" y="5522033"/>
            <a:ext cx="3364768" cy="856941"/>
            <a:chOff x="0" y="0"/>
            <a:chExt cx="886194" cy="2256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86194" cy="225696"/>
            </a:xfrm>
            <a:custGeom>
              <a:avLst/>
              <a:gdLst/>
              <a:ahLst/>
              <a:cxnLst/>
              <a:rect r="r" b="b" t="t" l="l"/>
              <a:pathLst>
                <a:path h="225696" w="886194">
                  <a:moveTo>
                    <a:pt x="443097" y="0"/>
                  </a:moveTo>
                  <a:cubicBezTo>
                    <a:pt x="198381" y="0"/>
                    <a:pt x="0" y="50524"/>
                    <a:pt x="0" y="112848"/>
                  </a:cubicBezTo>
                  <a:cubicBezTo>
                    <a:pt x="0" y="175173"/>
                    <a:pt x="198381" y="225696"/>
                    <a:pt x="443097" y="225696"/>
                  </a:cubicBezTo>
                  <a:cubicBezTo>
                    <a:pt x="687813" y="225696"/>
                    <a:pt x="886194" y="175173"/>
                    <a:pt x="886194" y="112848"/>
                  </a:cubicBezTo>
                  <a:cubicBezTo>
                    <a:pt x="886194" y="50524"/>
                    <a:pt x="687813" y="0"/>
                    <a:pt x="443097" y="0"/>
                  </a:cubicBezTo>
                  <a:close/>
                </a:path>
              </a:pathLst>
            </a:custGeom>
            <a:solidFill>
              <a:srgbClr val="FFB901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83081" y="-16941"/>
              <a:ext cx="720033" cy="2214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9627378" y="2109549"/>
            <a:ext cx="6835939" cy="6263429"/>
          </a:xfrm>
          <a:custGeom>
            <a:avLst/>
            <a:gdLst/>
            <a:ahLst/>
            <a:cxnLst/>
            <a:rect r="r" b="b" t="t" l="l"/>
            <a:pathLst>
              <a:path h="6263429" w="6835939">
                <a:moveTo>
                  <a:pt x="0" y="0"/>
                </a:moveTo>
                <a:lnTo>
                  <a:pt x="6835938" y="0"/>
                </a:lnTo>
                <a:lnTo>
                  <a:pt x="6835938" y="6263428"/>
                </a:lnTo>
                <a:lnTo>
                  <a:pt x="0" y="626342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619457" y="7429989"/>
            <a:ext cx="4472609" cy="4114800"/>
          </a:xfrm>
          <a:custGeom>
            <a:avLst/>
            <a:gdLst/>
            <a:ahLst/>
            <a:cxnLst/>
            <a:rect r="r" b="b" t="t" l="l"/>
            <a:pathLst>
              <a:path h="4114800" w="4472609">
                <a:moveTo>
                  <a:pt x="0" y="0"/>
                </a:moveTo>
                <a:lnTo>
                  <a:pt x="4472609" y="0"/>
                </a:lnTo>
                <a:lnTo>
                  <a:pt x="447260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-6202347">
            <a:off x="13751751" y="-111153"/>
            <a:ext cx="5423130" cy="4114800"/>
          </a:xfrm>
          <a:custGeom>
            <a:avLst/>
            <a:gdLst/>
            <a:ahLst/>
            <a:cxnLst/>
            <a:rect r="r" b="b" t="t" l="l"/>
            <a:pathLst>
              <a:path h="4114800" w="5423130">
                <a:moveTo>
                  <a:pt x="0" y="4114800"/>
                </a:moveTo>
                <a:lnTo>
                  <a:pt x="5423130" y="4114800"/>
                </a:lnTo>
                <a:lnTo>
                  <a:pt x="542313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336572" y="5809141"/>
            <a:ext cx="8828890" cy="2676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38"/>
              </a:lnSpc>
            </a:pPr>
            <a:r>
              <a:rPr lang="en-US" sz="353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•Automated flow of data from sourc</a:t>
            </a:r>
            <a:r>
              <a:rPr lang="en-US" sz="353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 to destination</a:t>
            </a:r>
          </a:p>
          <a:p>
            <a:pPr algn="l">
              <a:lnSpc>
                <a:spcPts val="4238"/>
              </a:lnSpc>
            </a:pPr>
            <a:r>
              <a:rPr lang="en-US" sz="353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•Includes ingestion, transformation, and storage</a:t>
            </a:r>
          </a:p>
          <a:p>
            <a:pPr algn="l">
              <a:lnSpc>
                <a:spcPts val="4238"/>
              </a:lnSpc>
            </a:pPr>
            <a:r>
              <a:rPr lang="en-US" sz="3531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•Ensures consistency and reliability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919450" y="3117076"/>
            <a:ext cx="6479151" cy="2124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103"/>
              </a:lnSpc>
            </a:pPr>
            <a:r>
              <a:rPr lang="en-US" sz="8441">
                <a:solidFill>
                  <a:srgbClr val="000000"/>
                </a:solidFill>
                <a:latin typeface="Berthold Block"/>
                <a:ea typeface="Berthold Block"/>
                <a:cs typeface="Berthold Block"/>
                <a:sym typeface="Berthold Block"/>
              </a:rPr>
              <a:t>WHAT</a:t>
            </a:r>
            <a:r>
              <a:rPr lang="en-US" sz="8441">
                <a:solidFill>
                  <a:srgbClr val="000000"/>
                </a:solidFill>
                <a:latin typeface="Berthold Block"/>
                <a:ea typeface="Berthold Block"/>
                <a:cs typeface="Berthold Block"/>
                <a:sym typeface="Berthold Block"/>
              </a:rPr>
              <a:t> IS A </a:t>
            </a:r>
          </a:p>
          <a:p>
            <a:pPr algn="r">
              <a:lnSpc>
                <a:spcPts val="8103"/>
              </a:lnSpc>
            </a:pPr>
            <a:r>
              <a:rPr lang="en-US" sz="8441">
                <a:solidFill>
                  <a:srgbClr val="000000"/>
                </a:solidFill>
                <a:latin typeface="Berthold Block"/>
                <a:ea typeface="Berthold Block"/>
                <a:cs typeface="Berthold Block"/>
                <a:sym typeface="Berthold Block"/>
              </a:rPr>
              <a:t>DATA PIPELINE?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408014" y="2304931"/>
            <a:ext cx="6239990" cy="1520998"/>
          </a:xfrm>
          <a:custGeom>
            <a:avLst/>
            <a:gdLst/>
            <a:ahLst/>
            <a:cxnLst/>
            <a:rect r="r" b="b" t="t" l="l"/>
            <a:pathLst>
              <a:path h="1520998" w="6239990">
                <a:moveTo>
                  <a:pt x="0" y="0"/>
                </a:moveTo>
                <a:lnTo>
                  <a:pt x="6239990" y="0"/>
                </a:lnTo>
                <a:lnTo>
                  <a:pt x="6239990" y="1520997"/>
                </a:lnTo>
                <a:lnTo>
                  <a:pt x="0" y="15209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865863" y="332691"/>
            <a:ext cx="2165101" cy="990534"/>
          </a:xfrm>
          <a:custGeom>
            <a:avLst/>
            <a:gdLst/>
            <a:ahLst/>
            <a:cxnLst/>
            <a:rect r="r" b="b" t="t" l="l"/>
            <a:pathLst>
              <a:path h="990534" w="2165101">
                <a:moveTo>
                  <a:pt x="0" y="0"/>
                </a:moveTo>
                <a:lnTo>
                  <a:pt x="2165101" y="0"/>
                </a:lnTo>
                <a:lnTo>
                  <a:pt x="2165101" y="990534"/>
                </a:lnTo>
                <a:lnTo>
                  <a:pt x="0" y="9905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5336735" y="7683546"/>
            <a:ext cx="917246" cy="917246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901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3738629" y="3910294"/>
            <a:ext cx="4018206" cy="4833932"/>
          </a:xfrm>
          <a:custGeom>
            <a:avLst/>
            <a:gdLst/>
            <a:ahLst/>
            <a:cxnLst/>
            <a:rect r="r" b="b" t="t" l="l"/>
            <a:pathLst>
              <a:path h="4833932" w="4018206">
                <a:moveTo>
                  <a:pt x="0" y="0"/>
                </a:moveTo>
                <a:lnTo>
                  <a:pt x="4018207" y="0"/>
                </a:lnTo>
                <a:lnTo>
                  <a:pt x="4018207" y="4833932"/>
                </a:lnTo>
                <a:lnTo>
                  <a:pt x="0" y="483393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8969964" y="4159296"/>
            <a:ext cx="7858603" cy="2219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12"/>
              </a:lnSpc>
            </a:pPr>
            <a:r>
              <a:rPr lang="en-US" sz="3676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•H</a:t>
            </a:r>
            <a:r>
              <a:rPr lang="en-US" sz="3676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andles large datasets efficiently</a:t>
            </a:r>
          </a:p>
          <a:p>
            <a:pPr algn="l">
              <a:lnSpc>
                <a:spcPts val="4412"/>
              </a:lnSpc>
            </a:pPr>
            <a:r>
              <a:rPr lang="en-US" sz="3676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•Improves performance using parallelism</a:t>
            </a:r>
          </a:p>
          <a:p>
            <a:pPr algn="l">
              <a:lnSpc>
                <a:spcPts val="4412"/>
              </a:lnSpc>
            </a:pPr>
            <a:r>
              <a:rPr lang="en-US" sz="3676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•Provides fault tolerance and reliability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378983" y="1513725"/>
            <a:ext cx="9006327" cy="2102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03"/>
              </a:lnSpc>
            </a:pPr>
            <a:r>
              <a:rPr lang="en-US" sz="8441">
                <a:solidFill>
                  <a:srgbClr val="000000"/>
                </a:solidFill>
                <a:latin typeface="Berthold Block"/>
                <a:ea typeface="Berthold Block"/>
                <a:cs typeface="Berthold Block"/>
                <a:sym typeface="Berthold Block"/>
              </a:rPr>
              <a:t>WHY</a:t>
            </a:r>
            <a:r>
              <a:rPr lang="en-US" sz="8441">
                <a:solidFill>
                  <a:srgbClr val="000000"/>
                </a:solidFill>
                <a:latin typeface="Berthold Block"/>
                <a:ea typeface="Berthold Block"/>
                <a:cs typeface="Berthold Block"/>
                <a:sym typeface="Berthold Block"/>
              </a:rPr>
              <a:t> DISTRIBUTED DATA PIPELINES?</a:t>
            </a:r>
          </a:p>
        </p:txBody>
      </p:sp>
      <p:sp>
        <p:nvSpPr>
          <p:cNvPr name="Freeform 10" id="10"/>
          <p:cNvSpPr/>
          <p:nvPr/>
        </p:nvSpPr>
        <p:spPr>
          <a:xfrm flipH="false" flipV="true" rot="-6202347">
            <a:off x="-1352035" y="-310499"/>
            <a:ext cx="5423130" cy="4114800"/>
          </a:xfrm>
          <a:custGeom>
            <a:avLst/>
            <a:gdLst/>
            <a:ahLst/>
            <a:cxnLst/>
            <a:rect r="r" b="b" t="t" l="l"/>
            <a:pathLst>
              <a:path h="4114800" w="5423130">
                <a:moveTo>
                  <a:pt x="0" y="4114800"/>
                </a:moveTo>
                <a:lnTo>
                  <a:pt x="5423130" y="4114800"/>
                </a:lnTo>
                <a:lnTo>
                  <a:pt x="542313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4823342" y="7286736"/>
            <a:ext cx="4472609" cy="4114800"/>
          </a:xfrm>
          <a:custGeom>
            <a:avLst/>
            <a:gdLst/>
            <a:ahLst/>
            <a:cxnLst/>
            <a:rect r="r" b="b" t="t" l="l"/>
            <a:pathLst>
              <a:path h="4114800" w="4472609">
                <a:moveTo>
                  <a:pt x="0" y="0"/>
                </a:moveTo>
                <a:lnTo>
                  <a:pt x="4472608" y="0"/>
                </a:lnTo>
                <a:lnTo>
                  <a:pt x="44726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170727" y="3219030"/>
            <a:ext cx="8066780" cy="1966278"/>
          </a:xfrm>
          <a:custGeom>
            <a:avLst/>
            <a:gdLst/>
            <a:ahLst/>
            <a:cxnLst/>
            <a:rect r="r" b="b" t="t" l="l"/>
            <a:pathLst>
              <a:path h="1966278" w="8066780">
                <a:moveTo>
                  <a:pt x="0" y="0"/>
                </a:moveTo>
                <a:lnTo>
                  <a:pt x="8066780" y="0"/>
                </a:lnTo>
                <a:lnTo>
                  <a:pt x="8066780" y="1966278"/>
                </a:lnTo>
                <a:lnTo>
                  <a:pt x="0" y="19662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764700" y="2217077"/>
            <a:ext cx="8878835" cy="3119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03"/>
              </a:lnSpc>
            </a:pPr>
            <a:r>
              <a:rPr lang="en-US" sz="8441">
                <a:solidFill>
                  <a:srgbClr val="000000"/>
                </a:solidFill>
                <a:latin typeface="Berthold Block"/>
                <a:ea typeface="Berthold Block"/>
                <a:cs typeface="Berthold Block"/>
                <a:sym typeface="Berthold Block"/>
              </a:rPr>
              <a:t>CORE COMPONENTS OF DISTRIBUTED</a:t>
            </a:r>
            <a:r>
              <a:rPr lang="en-US" sz="8441">
                <a:solidFill>
                  <a:srgbClr val="000000"/>
                </a:solidFill>
                <a:latin typeface="Berthold Block"/>
                <a:ea typeface="Berthold Block"/>
                <a:cs typeface="Berthold Block"/>
                <a:sym typeface="Berthold Block"/>
              </a:rPr>
              <a:t> PIPELINES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1121566" y="1028700"/>
            <a:ext cx="2165101" cy="990534"/>
          </a:xfrm>
          <a:custGeom>
            <a:avLst/>
            <a:gdLst/>
            <a:ahLst/>
            <a:cxnLst/>
            <a:rect r="r" b="b" t="t" l="l"/>
            <a:pathLst>
              <a:path h="990534" w="2165101">
                <a:moveTo>
                  <a:pt x="0" y="0"/>
                </a:moveTo>
                <a:lnTo>
                  <a:pt x="2165102" y="0"/>
                </a:lnTo>
                <a:lnTo>
                  <a:pt x="2165102" y="990534"/>
                </a:lnTo>
                <a:lnTo>
                  <a:pt x="0" y="9905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2423716" y="4838700"/>
            <a:ext cx="3390900" cy="339090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901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8516162" y="5704236"/>
            <a:ext cx="7062029" cy="2095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34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•D</a:t>
            </a:r>
            <a:r>
              <a:rPr lang="en-US" sz="34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ata Ingestion Layer</a:t>
            </a:r>
          </a:p>
          <a:p>
            <a:pPr algn="l">
              <a:lnSpc>
                <a:spcPts val="4199"/>
              </a:lnSpc>
            </a:pPr>
            <a:r>
              <a:rPr lang="en-US" sz="34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•Distributed Storage</a:t>
            </a:r>
          </a:p>
          <a:p>
            <a:pPr algn="l">
              <a:lnSpc>
                <a:spcPts val="4199"/>
              </a:lnSpc>
            </a:pPr>
            <a:r>
              <a:rPr lang="en-US" sz="34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•Parallel Processing Engine</a:t>
            </a:r>
          </a:p>
          <a:p>
            <a:pPr algn="l">
              <a:lnSpc>
                <a:spcPts val="4199"/>
              </a:lnSpc>
            </a:pPr>
            <a:r>
              <a:rPr lang="en-US" sz="34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•Monitoring &amp; Orchestration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4860938" y="7200900"/>
            <a:ext cx="4472609" cy="4114800"/>
          </a:xfrm>
          <a:custGeom>
            <a:avLst/>
            <a:gdLst/>
            <a:ahLst/>
            <a:cxnLst/>
            <a:rect r="r" b="b" t="t" l="l"/>
            <a:pathLst>
              <a:path h="4114800" w="4472609">
                <a:moveTo>
                  <a:pt x="0" y="0"/>
                </a:moveTo>
                <a:lnTo>
                  <a:pt x="4472608" y="0"/>
                </a:lnTo>
                <a:lnTo>
                  <a:pt x="44726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1207604" y="-158688"/>
            <a:ext cx="4472609" cy="4114800"/>
          </a:xfrm>
          <a:custGeom>
            <a:avLst/>
            <a:gdLst/>
            <a:ahLst/>
            <a:cxnLst/>
            <a:rect r="r" b="b" t="t" l="l"/>
            <a:pathLst>
              <a:path h="4114800" w="4472609">
                <a:moveTo>
                  <a:pt x="0" y="0"/>
                </a:moveTo>
                <a:lnTo>
                  <a:pt x="4472608" y="0"/>
                </a:lnTo>
                <a:lnTo>
                  <a:pt x="44726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841346" y="2026577"/>
            <a:ext cx="4555639" cy="5624246"/>
          </a:xfrm>
          <a:custGeom>
            <a:avLst/>
            <a:gdLst/>
            <a:ahLst/>
            <a:cxnLst/>
            <a:rect r="r" b="b" t="t" l="l"/>
            <a:pathLst>
              <a:path h="5624246" w="4555639">
                <a:moveTo>
                  <a:pt x="0" y="0"/>
                </a:moveTo>
                <a:lnTo>
                  <a:pt x="4555639" y="0"/>
                </a:lnTo>
                <a:lnTo>
                  <a:pt x="4555639" y="5624246"/>
                </a:lnTo>
                <a:lnTo>
                  <a:pt x="0" y="562424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351819" y="3907328"/>
            <a:ext cx="5472554" cy="1333935"/>
          </a:xfrm>
          <a:custGeom>
            <a:avLst/>
            <a:gdLst/>
            <a:ahLst/>
            <a:cxnLst/>
            <a:rect r="r" b="b" t="t" l="l"/>
            <a:pathLst>
              <a:path h="1333935" w="5472554">
                <a:moveTo>
                  <a:pt x="0" y="0"/>
                </a:moveTo>
                <a:lnTo>
                  <a:pt x="5472554" y="0"/>
                </a:lnTo>
                <a:lnTo>
                  <a:pt x="5472554" y="1333935"/>
                </a:lnTo>
                <a:lnTo>
                  <a:pt x="0" y="13339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483176" y="774932"/>
            <a:ext cx="2165101" cy="990534"/>
          </a:xfrm>
          <a:custGeom>
            <a:avLst/>
            <a:gdLst/>
            <a:ahLst/>
            <a:cxnLst/>
            <a:rect r="r" b="b" t="t" l="l"/>
            <a:pathLst>
              <a:path h="990534" w="2165101">
                <a:moveTo>
                  <a:pt x="0" y="0"/>
                </a:moveTo>
                <a:lnTo>
                  <a:pt x="2165101" y="0"/>
                </a:lnTo>
                <a:lnTo>
                  <a:pt x="2165101" y="990534"/>
                </a:lnTo>
                <a:lnTo>
                  <a:pt x="0" y="9905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1254690" y="7374645"/>
            <a:ext cx="3364768" cy="856941"/>
            <a:chOff x="0" y="0"/>
            <a:chExt cx="886194" cy="2256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86194" cy="225696"/>
            </a:xfrm>
            <a:custGeom>
              <a:avLst/>
              <a:gdLst/>
              <a:ahLst/>
              <a:cxnLst/>
              <a:rect r="r" b="b" t="t" l="l"/>
              <a:pathLst>
                <a:path h="225696" w="886194">
                  <a:moveTo>
                    <a:pt x="443097" y="0"/>
                  </a:moveTo>
                  <a:cubicBezTo>
                    <a:pt x="198381" y="0"/>
                    <a:pt x="0" y="50524"/>
                    <a:pt x="0" y="112848"/>
                  </a:cubicBezTo>
                  <a:cubicBezTo>
                    <a:pt x="0" y="175173"/>
                    <a:pt x="198381" y="225696"/>
                    <a:pt x="443097" y="225696"/>
                  </a:cubicBezTo>
                  <a:cubicBezTo>
                    <a:pt x="687813" y="225696"/>
                    <a:pt x="886194" y="175173"/>
                    <a:pt x="886194" y="112848"/>
                  </a:cubicBezTo>
                  <a:cubicBezTo>
                    <a:pt x="886194" y="50524"/>
                    <a:pt x="687813" y="0"/>
                    <a:pt x="443097" y="0"/>
                  </a:cubicBezTo>
                  <a:close/>
                </a:path>
              </a:pathLst>
            </a:custGeom>
            <a:solidFill>
              <a:srgbClr val="FFB901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83081" y="-16941"/>
              <a:ext cx="720033" cy="2214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4619457" y="7429989"/>
            <a:ext cx="4472609" cy="4114800"/>
          </a:xfrm>
          <a:custGeom>
            <a:avLst/>
            <a:gdLst/>
            <a:ahLst/>
            <a:cxnLst/>
            <a:rect r="r" b="b" t="t" l="l"/>
            <a:pathLst>
              <a:path h="4114800" w="4472609">
                <a:moveTo>
                  <a:pt x="0" y="0"/>
                </a:moveTo>
                <a:lnTo>
                  <a:pt x="4472609" y="0"/>
                </a:lnTo>
                <a:lnTo>
                  <a:pt x="447260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-6202347">
            <a:off x="13751751" y="-111153"/>
            <a:ext cx="5423130" cy="4114800"/>
          </a:xfrm>
          <a:custGeom>
            <a:avLst/>
            <a:gdLst/>
            <a:ahLst/>
            <a:cxnLst/>
            <a:rect r="r" b="b" t="t" l="l"/>
            <a:pathLst>
              <a:path h="4114800" w="5423130">
                <a:moveTo>
                  <a:pt x="0" y="4114800"/>
                </a:moveTo>
                <a:lnTo>
                  <a:pt x="5423130" y="4114800"/>
                </a:lnTo>
                <a:lnTo>
                  <a:pt x="542313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686336" y="412279"/>
            <a:ext cx="12354052" cy="1715841"/>
            <a:chOff x="0" y="0"/>
            <a:chExt cx="16472069" cy="228778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472069" cy="2287787"/>
            </a:xfrm>
            <a:custGeom>
              <a:avLst/>
              <a:gdLst/>
              <a:ahLst/>
              <a:cxnLst/>
              <a:rect r="r" b="b" t="t" l="l"/>
              <a:pathLst>
                <a:path h="2287787" w="16472069">
                  <a:moveTo>
                    <a:pt x="0" y="0"/>
                  </a:moveTo>
                  <a:lnTo>
                    <a:pt x="16472069" y="0"/>
                  </a:lnTo>
                  <a:lnTo>
                    <a:pt x="16472069" y="2287787"/>
                  </a:lnTo>
                  <a:lnTo>
                    <a:pt x="0" y="228778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23825"/>
              <a:ext cx="16472069" cy="24116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5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9803113" y="2776900"/>
            <a:ext cx="5331956" cy="5454686"/>
          </a:xfrm>
          <a:custGeom>
            <a:avLst/>
            <a:gdLst/>
            <a:ahLst/>
            <a:cxnLst/>
            <a:rect r="r" b="b" t="t" l="l"/>
            <a:pathLst>
              <a:path h="5454686" w="5331956">
                <a:moveTo>
                  <a:pt x="0" y="0"/>
                </a:moveTo>
                <a:lnTo>
                  <a:pt x="5331956" y="0"/>
                </a:lnTo>
                <a:lnTo>
                  <a:pt x="5331956" y="5454687"/>
                </a:lnTo>
                <a:lnTo>
                  <a:pt x="0" y="545468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336572" y="5617283"/>
            <a:ext cx="7062029" cy="2619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34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•Dat</a:t>
            </a:r>
            <a:r>
              <a:rPr lang="en-US" sz="34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 Source → Ingestion → Storage → Processing → Analytics</a:t>
            </a:r>
          </a:p>
          <a:p>
            <a:pPr algn="l">
              <a:lnSpc>
                <a:spcPts val="4199"/>
              </a:lnSpc>
            </a:pPr>
            <a:r>
              <a:rPr lang="en-US" sz="34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•Each stage operates independently</a:t>
            </a:r>
          </a:p>
          <a:p>
            <a:pPr algn="l">
              <a:lnSpc>
                <a:spcPts val="4199"/>
              </a:lnSpc>
            </a:pPr>
            <a:r>
              <a:rPr lang="en-US" sz="34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•Supports batch and large-scale processing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175796" y="2088376"/>
            <a:ext cx="6371622" cy="3152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8103"/>
              </a:lnSpc>
            </a:pPr>
            <a:r>
              <a:rPr lang="en-US" sz="8441">
                <a:solidFill>
                  <a:srgbClr val="000000"/>
                </a:solidFill>
                <a:latin typeface="Berthold Block"/>
                <a:ea typeface="Berthold Block"/>
                <a:cs typeface="Berthold Block"/>
                <a:sym typeface="Berthold Block"/>
              </a:rPr>
              <a:t>DISTRIBUTE</a:t>
            </a:r>
            <a:r>
              <a:rPr lang="en-US" sz="8441">
                <a:solidFill>
                  <a:srgbClr val="000000"/>
                </a:solidFill>
                <a:latin typeface="Berthold Block"/>
                <a:ea typeface="Berthold Block"/>
                <a:cs typeface="Berthold Block"/>
                <a:sym typeface="Berthold Block"/>
              </a:rPr>
              <a:t>D PIPELINE ARCHITECTURE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044980" y="1746901"/>
            <a:ext cx="5472554" cy="1333935"/>
          </a:xfrm>
          <a:custGeom>
            <a:avLst/>
            <a:gdLst/>
            <a:ahLst/>
            <a:cxnLst/>
            <a:rect r="r" b="b" t="t" l="l"/>
            <a:pathLst>
              <a:path h="1333935" w="5472554">
                <a:moveTo>
                  <a:pt x="0" y="0"/>
                </a:moveTo>
                <a:lnTo>
                  <a:pt x="5472554" y="0"/>
                </a:lnTo>
                <a:lnTo>
                  <a:pt x="5472554" y="1333935"/>
                </a:lnTo>
                <a:lnTo>
                  <a:pt x="0" y="13339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061449" y="533433"/>
            <a:ext cx="2165101" cy="990534"/>
          </a:xfrm>
          <a:custGeom>
            <a:avLst/>
            <a:gdLst/>
            <a:ahLst/>
            <a:cxnLst/>
            <a:rect r="r" b="b" t="t" l="l"/>
            <a:pathLst>
              <a:path h="990534" w="2165101">
                <a:moveTo>
                  <a:pt x="0" y="0"/>
                </a:moveTo>
                <a:lnTo>
                  <a:pt x="2165102" y="0"/>
                </a:lnTo>
                <a:lnTo>
                  <a:pt x="2165102" y="990534"/>
                </a:lnTo>
                <a:lnTo>
                  <a:pt x="0" y="9905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5685889" y="7805481"/>
            <a:ext cx="917246" cy="917246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901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7986520" y="5143500"/>
            <a:ext cx="7062029" cy="1571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34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•D</a:t>
            </a:r>
            <a:r>
              <a:rPr lang="en-US" sz="34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river program controls execution</a:t>
            </a:r>
          </a:p>
          <a:p>
            <a:pPr algn="l">
              <a:lnSpc>
                <a:spcPts val="4199"/>
              </a:lnSpc>
            </a:pPr>
            <a:r>
              <a:rPr lang="en-US" sz="34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•Executors run tasks in parallel</a:t>
            </a:r>
          </a:p>
          <a:p>
            <a:pPr algn="l">
              <a:lnSpc>
                <a:spcPts val="4199"/>
              </a:lnSpc>
            </a:pPr>
            <a:r>
              <a:rPr lang="en-US" sz="34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•Data is partitioned across nodes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738629" y="2016126"/>
            <a:ext cx="10085255" cy="2102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03"/>
              </a:lnSpc>
            </a:pPr>
            <a:r>
              <a:rPr lang="en-US" sz="8441">
                <a:solidFill>
                  <a:srgbClr val="000000"/>
                </a:solidFill>
                <a:latin typeface="Berthold Block"/>
                <a:ea typeface="Berthold Block"/>
                <a:cs typeface="Berthold Block"/>
                <a:sym typeface="Berthold Block"/>
              </a:rPr>
              <a:t>SPARK-STYLE</a:t>
            </a:r>
            <a:r>
              <a:rPr lang="en-US" sz="8441">
                <a:solidFill>
                  <a:srgbClr val="000000"/>
                </a:solidFill>
                <a:latin typeface="Berthold Block"/>
                <a:ea typeface="Berthold Block"/>
                <a:cs typeface="Berthold Block"/>
                <a:sym typeface="Berthold Block"/>
              </a:rPr>
              <a:t> PROCESSING MODEL</a:t>
            </a:r>
          </a:p>
        </p:txBody>
      </p:sp>
      <p:sp>
        <p:nvSpPr>
          <p:cNvPr name="Freeform 9" id="9"/>
          <p:cNvSpPr/>
          <p:nvPr/>
        </p:nvSpPr>
        <p:spPr>
          <a:xfrm flipH="false" flipV="true" rot="-6202347">
            <a:off x="-1352035" y="-310499"/>
            <a:ext cx="5423130" cy="4114800"/>
          </a:xfrm>
          <a:custGeom>
            <a:avLst/>
            <a:gdLst/>
            <a:ahLst/>
            <a:cxnLst/>
            <a:rect r="r" b="b" t="t" l="l"/>
            <a:pathLst>
              <a:path h="4114800" w="5423130">
                <a:moveTo>
                  <a:pt x="0" y="4114800"/>
                </a:moveTo>
                <a:lnTo>
                  <a:pt x="5423130" y="4114800"/>
                </a:lnTo>
                <a:lnTo>
                  <a:pt x="542313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823342" y="7286736"/>
            <a:ext cx="4472609" cy="4114800"/>
          </a:xfrm>
          <a:custGeom>
            <a:avLst/>
            <a:gdLst/>
            <a:ahLst/>
            <a:cxnLst/>
            <a:rect r="r" b="b" t="t" l="l"/>
            <a:pathLst>
              <a:path h="4114800" w="4472609">
                <a:moveTo>
                  <a:pt x="0" y="0"/>
                </a:moveTo>
                <a:lnTo>
                  <a:pt x="4472608" y="0"/>
                </a:lnTo>
                <a:lnTo>
                  <a:pt x="44726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047202" y="3863065"/>
            <a:ext cx="4555933" cy="4859662"/>
          </a:xfrm>
          <a:custGeom>
            <a:avLst/>
            <a:gdLst/>
            <a:ahLst/>
            <a:cxnLst/>
            <a:rect r="r" b="b" t="t" l="l"/>
            <a:pathLst>
              <a:path h="4859662" w="4555933">
                <a:moveTo>
                  <a:pt x="0" y="0"/>
                </a:moveTo>
                <a:lnTo>
                  <a:pt x="4555933" y="0"/>
                </a:lnTo>
                <a:lnTo>
                  <a:pt x="4555933" y="4859662"/>
                </a:lnTo>
                <a:lnTo>
                  <a:pt x="0" y="485966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388384" y="3289145"/>
            <a:ext cx="5472554" cy="1333935"/>
          </a:xfrm>
          <a:custGeom>
            <a:avLst/>
            <a:gdLst/>
            <a:ahLst/>
            <a:cxnLst/>
            <a:rect r="r" b="b" t="t" l="l"/>
            <a:pathLst>
              <a:path h="1333935" w="5472554">
                <a:moveTo>
                  <a:pt x="0" y="0"/>
                </a:moveTo>
                <a:lnTo>
                  <a:pt x="5472554" y="0"/>
                </a:lnTo>
                <a:lnTo>
                  <a:pt x="5472554" y="1333935"/>
                </a:lnTo>
                <a:lnTo>
                  <a:pt x="0" y="13339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769998" y="1393938"/>
            <a:ext cx="6709326" cy="3119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03"/>
              </a:lnSpc>
            </a:pPr>
            <a:r>
              <a:rPr lang="en-US" sz="8441">
                <a:solidFill>
                  <a:srgbClr val="000000"/>
                </a:solidFill>
                <a:latin typeface="Berthold Block"/>
                <a:ea typeface="Berthold Block"/>
                <a:cs typeface="Berthold Block"/>
                <a:sym typeface="Berthold Block"/>
              </a:rPr>
              <a:t>SCALABILITY &amp;</a:t>
            </a:r>
            <a:r>
              <a:rPr lang="en-US" sz="8441">
                <a:solidFill>
                  <a:srgbClr val="000000"/>
                </a:solidFill>
                <a:latin typeface="Berthold Block"/>
                <a:ea typeface="Berthold Block"/>
                <a:cs typeface="Berthold Block"/>
                <a:sym typeface="Berthold Block"/>
              </a:rPr>
              <a:t> FAULT TOLERANCE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1233180" y="212904"/>
            <a:ext cx="2165101" cy="990534"/>
          </a:xfrm>
          <a:custGeom>
            <a:avLst/>
            <a:gdLst/>
            <a:ahLst/>
            <a:cxnLst/>
            <a:rect r="r" b="b" t="t" l="l"/>
            <a:pathLst>
              <a:path h="990534" w="2165101">
                <a:moveTo>
                  <a:pt x="0" y="0"/>
                </a:moveTo>
                <a:lnTo>
                  <a:pt x="2165101" y="0"/>
                </a:lnTo>
                <a:lnTo>
                  <a:pt x="2165101" y="990534"/>
                </a:lnTo>
                <a:lnTo>
                  <a:pt x="0" y="9905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2579579" y="5592041"/>
            <a:ext cx="3390900" cy="339090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B901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8593646" y="5105400"/>
            <a:ext cx="7062029" cy="2095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34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•Ho</a:t>
            </a:r>
            <a:r>
              <a:rPr lang="en-US" sz="34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rizontal scaling by adding nodes</a:t>
            </a:r>
          </a:p>
          <a:p>
            <a:pPr algn="l">
              <a:lnSpc>
                <a:spcPts val="4199"/>
              </a:lnSpc>
            </a:pPr>
            <a:r>
              <a:rPr lang="en-US" sz="34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•Automatic task re-execution on failure</a:t>
            </a:r>
          </a:p>
          <a:p>
            <a:pPr algn="l">
              <a:lnSpc>
                <a:spcPts val="4199"/>
              </a:lnSpc>
            </a:pPr>
            <a:r>
              <a:rPr lang="en-US" sz="3499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•Data replication ensures reliability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4860938" y="7200900"/>
            <a:ext cx="4472609" cy="4114800"/>
          </a:xfrm>
          <a:custGeom>
            <a:avLst/>
            <a:gdLst/>
            <a:ahLst/>
            <a:cxnLst/>
            <a:rect r="r" b="b" t="t" l="l"/>
            <a:pathLst>
              <a:path h="4114800" w="4472609">
                <a:moveTo>
                  <a:pt x="0" y="0"/>
                </a:moveTo>
                <a:lnTo>
                  <a:pt x="4472608" y="0"/>
                </a:lnTo>
                <a:lnTo>
                  <a:pt x="44726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1207604" y="-158688"/>
            <a:ext cx="4472609" cy="4114800"/>
          </a:xfrm>
          <a:custGeom>
            <a:avLst/>
            <a:gdLst/>
            <a:ahLst/>
            <a:cxnLst/>
            <a:rect r="r" b="b" t="t" l="l"/>
            <a:pathLst>
              <a:path h="4114800" w="4472609">
                <a:moveTo>
                  <a:pt x="0" y="0"/>
                </a:moveTo>
                <a:lnTo>
                  <a:pt x="4472608" y="0"/>
                </a:lnTo>
                <a:lnTo>
                  <a:pt x="447260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563743" y="3117992"/>
            <a:ext cx="5422572" cy="4948097"/>
          </a:xfrm>
          <a:custGeom>
            <a:avLst/>
            <a:gdLst/>
            <a:ahLst/>
            <a:cxnLst/>
            <a:rect r="r" b="b" t="t" l="l"/>
            <a:pathLst>
              <a:path h="4948097" w="5422572">
                <a:moveTo>
                  <a:pt x="0" y="0"/>
                </a:moveTo>
                <a:lnTo>
                  <a:pt x="5422572" y="0"/>
                </a:lnTo>
                <a:lnTo>
                  <a:pt x="5422572" y="4948097"/>
                </a:lnTo>
                <a:lnTo>
                  <a:pt x="0" y="494809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351819" y="2683342"/>
            <a:ext cx="6372080" cy="1553195"/>
          </a:xfrm>
          <a:custGeom>
            <a:avLst/>
            <a:gdLst/>
            <a:ahLst/>
            <a:cxnLst/>
            <a:rect r="r" b="b" t="t" l="l"/>
            <a:pathLst>
              <a:path h="1553195" w="6372080">
                <a:moveTo>
                  <a:pt x="0" y="0"/>
                </a:moveTo>
                <a:lnTo>
                  <a:pt x="6372081" y="0"/>
                </a:lnTo>
                <a:lnTo>
                  <a:pt x="6372081" y="1553195"/>
                </a:lnTo>
                <a:lnTo>
                  <a:pt x="0" y="15531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261337" y="1562593"/>
            <a:ext cx="2165101" cy="990534"/>
          </a:xfrm>
          <a:custGeom>
            <a:avLst/>
            <a:gdLst/>
            <a:ahLst/>
            <a:cxnLst/>
            <a:rect r="r" b="b" t="t" l="l"/>
            <a:pathLst>
              <a:path h="990534" w="2165101">
                <a:moveTo>
                  <a:pt x="0" y="0"/>
                </a:moveTo>
                <a:lnTo>
                  <a:pt x="2165101" y="0"/>
                </a:lnTo>
                <a:lnTo>
                  <a:pt x="2165101" y="990534"/>
                </a:lnTo>
                <a:lnTo>
                  <a:pt x="0" y="9905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1254690" y="7704124"/>
            <a:ext cx="3364768" cy="856941"/>
            <a:chOff x="0" y="0"/>
            <a:chExt cx="886194" cy="2256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86194" cy="225696"/>
            </a:xfrm>
            <a:custGeom>
              <a:avLst/>
              <a:gdLst/>
              <a:ahLst/>
              <a:cxnLst/>
              <a:rect r="r" b="b" t="t" l="l"/>
              <a:pathLst>
                <a:path h="225696" w="886194">
                  <a:moveTo>
                    <a:pt x="443097" y="0"/>
                  </a:moveTo>
                  <a:cubicBezTo>
                    <a:pt x="198381" y="0"/>
                    <a:pt x="0" y="50524"/>
                    <a:pt x="0" y="112848"/>
                  </a:cubicBezTo>
                  <a:cubicBezTo>
                    <a:pt x="0" y="175173"/>
                    <a:pt x="198381" y="225696"/>
                    <a:pt x="443097" y="225696"/>
                  </a:cubicBezTo>
                  <a:cubicBezTo>
                    <a:pt x="687813" y="225696"/>
                    <a:pt x="886194" y="175173"/>
                    <a:pt x="886194" y="112848"/>
                  </a:cubicBezTo>
                  <a:cubicBezTo>
                    <a:pt x="886194" y="50524"/>
                    <a:pt x="687813" y="0"/>
                    <a:pt x="443097" y="0"/>
                  </a:cubicBezTo>
                  <a:close/>
                </a:path>
              </a:pathLst>
            </a:custGeom>
            <a:solidFill>
              <a:srgbClr val="FFB901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83081" y="-16941"/>
              <a:ext cx="720033" cy="2214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4619457" y="7429989"/>
            <a:ext cx="4472609" cy="4114800"/>
          </a:xfrm>
          <a:custGeom>
            <a:avLst/>
            <a:gdLst/>
            <a:ahLst/>
            <a:cxnLst/>
            <a:rect r="r" b="b" t="t" l="l"/>
            <a:pathLst>
              <a:path h="4114800" w="4472609">
                <a:moveTo>
                  <a:pt x="0" y="0"/>
                </a:moveTo>
                <a:lnTo>
                  <a:pt x="4472609" y="0"/>
                </a:lnTo>
                <a:lnTo>
                  <a:pt x="447260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-6202347">
            <a:off x="13751751" y="-111153"/>
            <a:ext cx="5423130" cy="4114800"/>
          </a:xfrm>
          <a:custGeom>
            <a:avLst/>
            <a:gdLst/>
            <a:ahLst/>
            <a:cxnLst/>
            <a:rect r="r" b="b" t="t" l="l"/>
            <a:pathLst>
              <a:path h="4114800" w="5423130">
                <a:moveTo>
                  <a:pt x="0" y="4114800"/>
                </a:moveTo>
                <a:lnTo>
                  <a:pt x="5423130" y="4114800"/>
                </a:lnTo>
                <a:lnTo>
                  <a:pt x="542313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592733" y="3907328"/>
            <a:ext cx="4220308" cy="4114800"/>
          </a:xfrm>
          <a:custGeom>
            <a:avLst/>
            <a:gdLst/>
            <a:ahLst/>
            <a:cxnLst/>
            <a:rect r="r" b="b" t="t" l="l"/>
            <a:pathLst>
              <a:path h="4114800" w="4220308">
                <a:moveTo>
                  <a:pt x="0" y="0"/>
                </a:moveTo>
                <a:lnTo>
                  <a:pt x="4220307" y="0"/>
                </a:lnTo>
                <a:lnTo>
                  <a:pt x="422030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28960" y="4882051"/>
            <a:ext cx="9777950" cy="5086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8"/>
              </a:lnSpc>
            </a:pPr>
            <a:r>
              <a:rPr lang="en-US" sz="2623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References: </a:t>
            </a:r>
          </a:p>
          <a:p>
            <a:pPr algn="l">
              <a:lnSpc>
                <a:spcPts val="3148"/>
              </a:lnSpc>
            </a:pPr>
            <a:r>
              <a:rPr lang="en-US" sz="2623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1) https://www.researchgate.net/profile/Charles-Paul-8/publication/386440210_Distributed_Data_Pipelines_for_Scalability_in_Predictive_AI_Frameworks</a:t>
            </a:r>
          </a:p>
          <a:p>
            <a:pPr algn="l">
              <a:lnSpc>
                <a:spcPts val="3148"/>
              </a:lnSpc>
            </a:pPr>
          </a:p>
          <a:p>
            <a:pPr algn="l">
              <a:lnSpc>
                <a:spcPts val="3148"/>
              </a:lnSpc>
            </a:pPr>
            <a:r>
              <a:rPr lang="en-US" sz="2623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2)https://www.irjmets.com/uploadedfiles/paper//issue_3_march_2025/68567/final/fin_irjmets1741206460.pdf</a:t>
            </a:r>
          </a:p>
          <a:p>
            <a:pPr algn="l">
              <a:lnSpc>
                <a:spcPts val="3148"/>
              </a:lnSpc>
            </a:pPr>
          </a:p>
          <a:p>
            <a:pPr algn="l">
              <a:lnSpc>
                <a:spcPts val="3148"/>
              </a:lnSpc>
            </a:pPr>
            <a:r>
              <a:rPr lang="en-US" sz="2623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3)https://research.chalmers.se/publication/521248/file/521248_Fulltext.pdf</a:t>
            </a:r>
          </a:p>
          <a:p>
            <a:pPr algn="l">
              <a:lnSpc>
                <a:spcPts val="3148"/>
              </a:lnSpc>
            </a:pPr>
          </a:p>
          <a:p>
            <a:pPr algn="l">
              <a:lnSpc>
                <a:spcPts val="3148"/>
              </a:lnSpc>
            </a:pPr>
            <a:r>
              <a:rPr lang="en-US" sz="2623">
                <a:solidFill>
                  <a:srgbClr val="000000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Dataset: https://www.kaggle.com/datasets/umeshnaik01/sales-transactions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225792" y="2930992"/>
            <a:ext cx="7102953" cy="1393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0340"/>
              </a:lnSpc>
            </a:pPr>
            <a:r>
              <a:rPr lang="en-US" sz="10771">
                <a:solidFill>
                  <a:srgbClr val="000000"/>
                </a:solidFill>
                <a:latin typeface="Berthold Block"/>
                <a:ea typeface="Berthold Block"/>
                <a:cs typeface="Berthold Block"/>
                <a:sym typeface="Berthold Block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DAG8WjUM9hQ</dc:identifier>
  <dcterms:modified xsi:type="dcterms:W3CDTF">2011-08-01T06:04:30Z</dcterms:modified>
  <cp:revision>1</cp:revision>
  <dc:title>Distributed Data Processing Pipeline</dc:title>
</cp:coreProperties>
</file>